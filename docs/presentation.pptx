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91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5" r:id="rId16"/>
    <p:sldId id="277" r:id="rId17"/>
    <p:sldId id="278" r:id="rId18"/>
    <p:sldId id="279" r:id="rId19"/>
    <p:sldId id="281" r:id="rId20"/>
    <p:sldId id="282" r:id="rId21"/>
    <p:sldId id="284" r:id="rId22"/>
    <p:sldId id="286" r:id="rId23"/>
    <p:sldId id="287" r:id="rId24"/>
    <p:sldId id="288" r:id="rId25"/>
    <p:sldId id="289" r:id="rId26"/>
    <p:sldId id="29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953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629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EECE 502  ·  FINAL YEAR PROJECT  ·  SPRING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914400" cy="36576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the aging mind.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multi-modal AI system that detects Alzheimer’s disease from a single sample of speech.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486400"/>
            <a:ext cx="10698480" cy="0"/>
          </a:xfrm>
          <a:prstGeom prst="line">
            <a:avLst/>
          </a:prstGeom>
          <a:noFill/>
          <a:ln w="9525">
            <a:solidFill>
              <a:srgbClr val="C47B1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Text 6"/>
          <p:cNvSpPr/>
          <p:nvPr/>
        </p:nvSpPr>
        <p:spPr>
          <a:xfrm>
            <a:off x="731520" y="5623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Wassim Kassem  ·  Ali El Hajj  ·  Tamer Lammam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5623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FACULTY ADVISOR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0" y="5852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Karim Kabalan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640080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AMERICAN UNIVERSITY OF BEIRUT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we’ll cover today.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73152" cy="137160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920240" y="1719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21031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evidence, project specifications, technical and non-technical constraints, applicable standards.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40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73152" cy="137160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589520" y="1719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0" y="21031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in speech-based Alzheimer’s detection, key papers, gap analysis, our differentiation.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40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73152" cy="137160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8" name="Text 16"/>
          <p:cNvSpPr/>
          <p:nvPr/>
        </p:nvSpPr>
        <p:spPr>
          <a:xfrm>
            <a:off x="82296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920240" y="3273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36576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alternatives considered, the chosen architecture, complete feature engineering pipeline.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108960"/>
            <a:ext cx="5440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2" name="Shape 20"/>
          <p:cNvSpPr/>
          <p:nvPr/>
        </p:nvSpPr>
        <p:spPr>
          <a:xfrm>
            <a:off x="6217920" y="3108960"/>
            <a:ext cx="73152" cy="137160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3" name="Text 21"/>
          <p:cNvSpPr/>
          <p:nvPr/>
        </p:nvSpPr>
        <p:spPr>
          <a:xfrm>
            <a:off x="649224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589520" y="3273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Iterations &amp; Engineering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89520" y="36576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caught, optimisations made, alternatives benchmarked, design decisions justified.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5440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73152" cy="137160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8" name="Text 26"/>
          <p:cNvSpPr/>
          <p:nvPr/>
        </p:nvSpPr>
        <p:spPr>
          <a:xfrm>
            <a:off x="82296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920240" y="48280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Results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920240" y="5212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evaluation, model comparison, test-set performance, threshold analysis, interpretability.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663440"/>
            <a:ext cx="5440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2" name="Shape 30"/>
          <p:cNvSpPr/>
          <p:nvPr/>
        </p:nvSpPr>
        <p:spPr>
          <a:xfrm>
            <a:off x="6217920" y="4663440"/>
            <a:ext cx="73152" cy="137160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33" name="Text 31"/>
          <p:cNvSpPr/>
          <p:nvPr/>
        </p:nvSpPr>
        <p:spPr>
          <a:xfrm>
            <a:off x="649224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589520" y="48280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Impact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89520" y="5212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application, innovation, commercial path, conclusions, future work, references.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7" name="Text 35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Alzheimer’s is a silent crisis we can’t afford to miss.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57600" cy="2377440"/>
          </a:xfrm>
          <a:prstGeom prst="rect">
            <a:avLst/>
          </a:prstGeom>
          <a:solidFill>
            <a:srgbClr val="F4EDE0"/>
          </a:solidFill>
          <a:ln w="9525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55M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live with dementia today.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will triple by 2050.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Global Dementia Report, 2024.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554480"/>
            <a:ext cx="3657600" cy="2377440"/>
          </a:xfrm>
          <a:prstGeom prst="rect">
            <a:avLst/>
          </a:prstGeom>
          <a:solidFill>
            <a:srgbClr val="F4EDE0"/>
          </a:solidFill>
          <a:ln w="9525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0" name="Text 8"/>
          <p:cNvSpPr/>
          <p:nvPr/>
        </p:nvSpPr>
        <p:spPr>
          <a:xfrm>
            <a:off x="4553712" y="1691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45152" y="2697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dementia cases globally are undiagnosed, primarily due to access barriers.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Alzheimer’s Disease International, 2023.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93024" y="1554480"/>
            <a:ext cx="3657600" cy="2377440"/>
          </a:xfrm>
          <a:prstGeom prst="rect">
            <a:avLst/>
          </a:prstGeom>
          <a:solidFill>
            <a:srgbClr val="F4EDE0"/>
          </a:solidFill>
          <a:ln w="9525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3" name="Text 11"/>
          <p:cNvSpPr/>
          <p:nvPr/>
        </p:nvSpPr>
        <p:spPr>
          <a:xfrm>
            <a:off x="8375904" y="1691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$1.3T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467344" y="2697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annual global cost. Early intervention can delay institutional care by years.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Lancet Commission on Dementia, 2024.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9441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73152" cy="192024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7" name="Text 15"/>
          <p:cNvSpPr/>
          <p:nvPr/>
        </p:nvSpPr>
        <p:spPr>
          <a:xfrm>
            <a:off x="86868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speech?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screening relies on expensive imaging or long clinical tests. Speech, however, is free, scalable, and shows early signs of decline, often years before diagnosis. A simple 60-second sample can carry meaningful clinical information.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statement.  There is no widely accessible, fast, affordable, non-invasive method for early Alzheimer’s screening.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1" name="Text 19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Alzheimer’s reshapes speech.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science behind the signal.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pathology disrupts specific cognitive systems before motor or sensory ones. Each disrupted system leaves a measurable footprint in spontaneous speech. The 32 features we extract are not arbitrary but each maps to a known clinical phenomenon.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91440" cy="1965960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MEMORY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 retrieval falters; concepts “on the tip of the tongue”.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information-unit coverage on picture description; substituting "thing" for specific nouns.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493776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3" name="Text 11"/>
          <p:cNvSpPr/>
          <p:nvPr/>
        </p:nvSpPr>
        <p:spPr>
          <a:xfrm>
            <a:off x="822960" y="37764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 BY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22960" y="39136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information_unit_coverage  ·  word_frequency_index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91440" cy="196596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7" name="Text 15"/>
          <p:cNvSpPr/>
          <p:nvPr/>
        </p:nvSpPr>
        <p:spPr>
          <a:xfrm>
            <a:off x="649224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6B4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FUNCTION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Sentence planning and discourse coherence degrade.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clauses, shallower parse trees, more incomplete utterances.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3703320"/>
            <a:ext cx="493776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1" name="Text 19"/>
          <p:cNvSpPr/>
          <p:nvPr/>
        </p:nvSpPr>
        <p:spPr>
          <a:xfrm>
            <a:off x="6492240" y="37764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 BY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92240" y="39136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4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syntactic_complexity  ·  fragment_rate  ·  revision_rate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91440" cy="1965960"/>
          </a:xfrm>
          <a:prstGeom prst="rect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5" name="Text 23"/>
          <p:cNvSpPr/>
          <p:nvPr/>
        </p:nvSpPr>
        <p:spPr>
          <a:xfrm>
            <a:off x="82296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E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 &amp; PROSODY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Articulatory precision and prosodic control reduce.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120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jitter/shimmer, reduced pitch range, hesitations and longer pauses.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5806440"/>
            <a:ext cx="493776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9" name="Text 27"/>
          <p:cNvSpPr/>
          <p:nvPr/>
        </p:nvSpPr>
        <p:spPr>
          <a:xfrm>
            <a:off x="822960" y="58795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 BY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22960" y="60167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jitter  ·  shimmer  ·  mean_pause_duration  ·  pitch_range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425196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2" name="Shape 30"/>
          <p:cNvSpPr/>
          <p:nvPr/>
        </p:nvSpPr>
        <p:spPr>
          <a:xfrm>
            <a:off x="6217920" y="4251960"/>
            <a:ext cx="91440" cy="1965960"/>
          </a:xfrm>
          <a:prstGeom prst="rect">
            <a:avLst/>
          </a:prstGeom>
          <a:solidFill>
            <a:srgbClr val="B8336A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33" name="Text 31"/>
          <p:cNvSpPr/>
          <p:nvPr/>
        </p:nvSpPr>
        <p:spPr>
          <a:xfrm>
            <a:off x="649224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B83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EPISODIC MEMORY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and topic maintenance suffer.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0" y="5120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Drifts off topic, loses thread of narrative, paraphrases instead of recalling.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92240" y="5806440"/>
            <a:ext cx="493776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7" name="Text 35"/>
          <p:cNvSpPr/>
          <p:nvPr/>
        </p:nvSpPr>
        <p:spPr>
          <a:xfrm>
            <a:off x="6492240" y="58795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 BY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492240" y="60167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3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story_recall_similarity  ·  global_semantic_drift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0" name="Text 38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SPECIFICATIONS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and non-functional requirements.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were defined upfront and traced through every design decision. Each line below was a measurable target the system had to meet to be considered complete.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40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40680" cy="45720"/>
          </a:xfrm>
          <a:prstGeom prst="rect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F1. Binary classification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898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P(Dementia | speech) for each input sample.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3192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F2. Multi-modal input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WAV/MP3 audio plus CHAT/raw text transcript.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4032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F3. Multi-task support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3251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4 cognitive tasks: cookie, fluency, recall, sentence.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7457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F4. Per-prediction explanation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50383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SHAP attribution for every prediction.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458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F5. Web-based interface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7515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Clinician-usable browser app; no install required.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103120"/>
            <a:ext cx="5440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1" name="Shape 19"/>
          <p:cNvSpPr/>
          <p:nvPr/>
        </p:nvSpPr>
        <p:spPr>
          <a:xfrm>
            <a:off x="6217920" y="2103120"/>
            <a:ext cx="5440680" cy="45720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2" name="Text 20"/>
          <p:cNvSpPr/>
          <p:nvPr/>
        </p:nvSpPr>
        <p:spPr>
          <a:xfrm>
            <a:off x="644652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NON-FUNCTIONAL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2606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NF1. Accuracy ≥ 88%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28986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published SoTA on identical Pitt corpus protocol.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33192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NF2. Sensitivity ≥ 90%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3611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dementia cases, false negatives are costlier.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4032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NF3. Inference &lt; 2 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43251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(audio in → prediction out) under 2 seconds.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46520" y="47457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NF4. Reproducibility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50383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across runs (random_state = 42 throughout).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5458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NF5. Auditable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57515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must be explainable, traceable, defensible.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4" name="Text 32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LITERATURE (1/3)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trajectory of AI-based Alzheimer’s detection from speech.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Speech-based AD detection has evolved from handcrafted classical ML through deep learning to multimodal transformers. We surveyed 30+ papers; the four below represent the most influential approaches that shaped our design decisions.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406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40680" cy="457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4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CLASSICAL ML  ·  2016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Fraser et al.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Alzheimer’s Disease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4983480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3" name="Text 11"/>
          <p:cNvSpPr/>
          <p:nvPr/>
        </p:nvSpPr>
        <p:spPr>
          <a:xfrm>
            <a:off x="777240" y="3657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" y="3886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linguistic features + SVM / RF / LR classifiers. Cross-validated on Pitt narrative transcripts.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846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5074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81–84%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7240" y="56235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Text-only, misses prosodic cues. Requires high-quality manual transcripts.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194560"/>
            <a:ext cx="54406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0" name="Shape 18"/>
          <p:cNvSpPr/>
          <p:nvPr/>
        </p:nvSpPr>
        <p:spPr>
          <a:xfrm>
            <a:off x="6217920" y="2194560"/>
            <a:ext cx="5440680" cy="45720"/>
          </a:xfrm>
          <a:prstGeom prst="rect">
            <a:avLst/>
          </a:prstGeom>
          <a:solidFill>
            <a:srgbClr val="B8336A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1" name="Text 19"/>
          <p:cNvSpPr/>
          <p:nvPr/>
        </p:nvSpPr>
        <p:spPr>
          <a:xfrm>
            <a:off x="64465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3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LEARNING  ·  2022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Yang et al.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4652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Speech Processing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3520440"/>
            <a:ext cx="4983480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5" name="Text 23"/>
          <p:cNvSpPr/>
          <p:nvPr/>
        </p:nvSpPr>
        <p:spPr>
          <a:xfrm>
            <a:off x="6446520" y="3657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46520" y="3886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word embeddings + TextCNN-LSTM two-branch deep model. Feature fusion → softmax.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846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46520" y="5074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46520" y="56235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4652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Small-dataset overfitting. Text-only  (misses pauses and prosody).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2" name="Text 30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LITERATURE (2/3)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transformers represent the published state of the art.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40680" cy="45720"/>
          </a:xfrm>
          <a:prstGeom prst="rect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8" name="Shape 6"/>
          <p:cNvSpPr/>
          <p:nvPr/>
        </p:nvSpPr>
        <p:spPr>
          <a:xfrm>
            <a:off x="4434840" y="1691640"/>
            <a:ext cx="1463040" cy="274320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443484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BENCHMARK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MULTIMODAL  ·  2020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Sarawgi et al.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INTERSPEECH (ADReSS Challenge)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4983480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32918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Three-modal neural ensemble: acoustic + linguistic + disfluency, trained on full Pitt corpus.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617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5440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" y="5669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interpretability layer. Required GPU for end-to-end neural training.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54406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440680" cy="45720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2" name="Text 20"/>
          <p:cNvSpPr/>
          <p:nvPr/>
        </p:nvSpPr>
        <p:spPr>
          <a:xfrm>
            <a:off x="64465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 FUSION  · 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CogniAlign / Ksibi et al.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4652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Reports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2926080"/>
            <a:ext cx="4983480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6" name="Text 24"/>
          <p:cNvSpPr/>
          <p:nvPr/>
        </p:nvSpPr>
        <p:spPr>
          <a:xfrm>
            <a:off x="6446520" y="3063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46520" y="32918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(text) + Wav2Vec2 (audio) + Gated Cross-Attention Transformer for multimodal fusion. ADReSSo only.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4617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4652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90.4%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46520" y="5440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46520" y="5669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expensive. Cookie-task only. Not deployable on commodity hardware.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3" name="Text 31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LITERATURE (3/3)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our work differentiates from the published state of the art.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our final design directly against the most-cited approaches on the same Pitt corpus. The differentiation matters: every column is a clinically relevant property, not just a leaderboard score.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9184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ROUTING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1381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INTERPRETABILITY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3272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11155680" cy="0"/>
          </a:xfrm>
          <a:prstGeom prst="line">
            <a:avLst/>
          </a:prstGeom>
          <a:noFill/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Fraser 2016 (Classical)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697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handcrafted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332720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81–84%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1115568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2022 (Deep)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291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learned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332720" y="3291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86.0%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794760"/>
            <a:ext cx="1115568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8" name="Text 26"/>
          <p:cNvSpPr/>
          <p:nvPr/>
        </p:nvSpPr>
        <p:spPr>
          <a:xfrm>
            <a:off x="548640" y="3886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Sarawgi 2020 (Multi-modal)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886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Text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Three-modal NN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886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38160" y="3886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332720" y="3886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88.0%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389120"/>
            <a:ext cx="1115568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5" name="Text 33"/>
          <p:cNvSpPr/>
          <p:nvPr/>
        </p:nvSpPr>
        <p:spPr>
          <a:xfrm>
            <a:off x="548640" y="4480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CogniAlign 2025 (Fusion)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4480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Text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480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4480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only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38160" y="4480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332720" y="4480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90.4%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983480"/>
            <a:ext cx="1115568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2" name="Shape 40"/>
          <p:cNvSpPr/>
          <p:nvPr/>
        </p:nvSpPr>
        <p:spPr>
          <a:xfrm>
            <a:off x="502920" y="5029200"/>
            <a:ext cx="11247120" cy="566928"/>
          </a:xfrm>
          <a:prstGeom prst="rect">
            <a:avLst/>
          </a:prstGeom>
          <a:solidFill>
            <a:srgbClr val="FFE9C2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3" name="Text 41"/>
          <p:cNvSpPr/>
          <p:nvPr/>
        </p:nvSpPr>
        <p:spPr>
          <a:xfrm>
            <a:off x="548640" y="5074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NeuroLinguist (ours)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5074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Text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hand + bio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8368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tasks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38160" y="5074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Per-prediction (SHAP)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332720" y="5074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92.2%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48640" y="5577840"/>
            <a:ext cx="1115568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0" name="Shape 48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51" name="Text 49"/>
          <p:cNvSpPr/>
          <p:nvPr/>
        </p:nvSpPr>
        <p:spPr>
          <a:xfrm>
            <a:off x="77724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add: full task-routing across all 4 cognitive tasks, complete per-prediction SHAP transparency, and a deployable web app with under 1-second inference.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3" name="Text 51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ALTERNATIVES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architectures considered. We benchmarked all three.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demands "sufficient alternatives considered for the overall design and for all relevant components." Below: the three architecture families we evaluated, why each was tried, and why we chose the third.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6576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0" cy="457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4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ML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3383280"/>
            <a:ext cx="320040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features + SVM / RF / LR. Interpretable, low-compute.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709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81.9% (acoustic XGB)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5669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Insufficient: single-modality misses signal.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0832" y="2194560"/>
            <a:ext cx="36576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9" name="Shape 17"/>
          <p:cNvSpPr/>
          <p:nvPr/>
        </p:nvSpPr>
        <p:spPr>
          <a:xfrm>
            <a:off x="4370832" y="2194560"/>
            <a:ext cx="3657600" cy="45720"/>
          </a:xfrm>
          <a:prstGeom prst="rect">
            <a:avLst/>
          </a:prstGeom>
          <a:solidFill>
            <a:srgbClr val="B8336A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0" name="Text 18"/>
          <p:cNvSpPr/>
          <p:nvPr/>
        </p:nvSpPr>
        <p:spPr>
          <a:xfrm>
            <a:off x="4599432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3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9432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neural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99432" y="3383280"/>
            <a:ext cx="320040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3" name="Text 21"/>
          <p:cNvSpPr/>
          <p:nvPr/>
        </p:nvSpPr>
        <p:spPr>
          <a:xfrm>
            <a:off x="4599432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99432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fine-tune + acoustic CNN/LSTM. End-to-end learning.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99432" y="4709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99432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84.5–86.2%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99432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99432" y="5669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Underperforms on small clinical data; loses interpretability.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93024" y="2194560"/>
            <a:ext cx="3657600" cy="4023360"/>
          </a:xfrm>
          <a:prstGeom prst="rect">
            <a:avLst/>
          </a:prstGeom>
          <a:solidFill>
            <a:srgbClr val="FFF8EB"/>
          </a:solidFill>
          <a:ln w="25400">
            <a:solidFill>
              <a:srgbClr val="C47B1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0" name="Shape 28"/>
          <p:cNvSpPr/>
          <p:nvPr/>
        </p:nvSpPr>
        <p:spPr>
          <a:xfrm>
            <a:off x="8193024" y="2194560"/>
            <a:ext cx="3657600" cy="45720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31" name="Text 29"/>
          <p:cNvSpPr/>
          <p:nvPr/>
        </p:nvSpPr>
        <p:spPr>
          <a:xfrm>
            <a:off x="8421624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21624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Task-routed ensemble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421624" y="3383280"/>
            <a:ext cx="3200400" cy="0"/>
          </a:xfrm>
          <a:prstGeom prst="line">
            <a:avLst/>
          </a:prstGeom>
          <a:noFill/>
          <a:ln w="508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4" name="Text 32"/>
          <p:cNvSpPr/>
          <p:nvPr/>
        </p:nvSpPr>
        <p:spPr>
          <a:xfrm>
            <a:off x="8421624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21624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handcrafted features + cookie/non-cookie specialists (XGB+RF+SVM+LR).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21624" y="4709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21624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92.2%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21624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421624" y="5669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7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accuracy, full interpretability, deployable on CPU.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1" name="Text 39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DementiaBank Pitt Corpus — 1,107 samples across 4 cognitive tasks.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029200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346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029200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1,290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346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RECORDINGS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029200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1,107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8346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AUDIO QC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029200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 / 927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83464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/ DEMENTIA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cognitive tasks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2057400"/>
            <a:ext cx="54864" cy="640080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1" name="Text 19"/>
          <p:cNvSpPr/>
          <p:nvPr/>
        </p:nvSpPr>
        <p:spPr>
          <a:xfrm>
            <a:off x="6355080" y="2057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3042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Cookie Theft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514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description —&gt; probes semantic memory and information density.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54864" cy="640080"/>
          </a:xfrm>
          <a:prstGeom prst="rect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5" name="Text 23"/>
          <p:cNvSpPr/>
          <p:nvPr/>
        </p:nvSpPr>
        <p:spPr>
          <a:xfrm>
            <a:off x="6355080" y="28346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0815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291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Re-tell a previously read narrative —&gt; probes episodic memory.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611880"/>
            <a:ext cx="54864" cy="64008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9" name="Text 27"/>
          <p:cNvSpPr/>
          <p:nvPr/>
        </p:nvSpPr>
        <p:spPr>
          <a:xfrm>
            <a:off x="6355080" y="3611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8587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Verbal fluency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words from a category —&gt; probes lexical access and executive function.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389120"/>
            <a:ext cx="54864" cy="640080"/>
          </a:xfrm>
          <a:prstGeom prst="rect">
            <a:avLst/>
          </a:prstGeom>
          <a:solidFill>
            <a:srgbClr val="B8336A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33" name="Text 31"/>
          <p:cNvSpPr/>
          <p:nvPr/>
        </p:nvSpPr>
        <p:spPr>
          <a:xfrm>
            <a:off x="6355080" y="4389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4636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Sentence construction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4846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grammatical sentences —&gt; probes syntactic processing.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394960"/>
            <a:ext cx="11094415" cy="868680"/>
          </a:xfrm>
          <a:prstGeom prst="rect">
            <a:avLst/>
          </a:prstGeom>
          <a:solidFill>
            <a:srgbClr val="F4EDE0"/>
          </a:solidFill>
          <a:ln w="12700">
            <a:solidFill>
              <a:srgbClr val="C47B1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7" name="Text 35"/>
          <p:cNvSpPr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Participant-level 80/10/10 split  ·  </a:t>
            </a:r>
            <a:r>
              <a:rPr lang="en-US" sz="1200" b="1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= 42</a:t>
            </a:r>
            <a:r>
              <a:rPr lang="en-US" sz="13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zero patient leakage between train, val, and test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test: 28 unseen participants (116 samples) — locked at split time, never touched during model development. This is the standard the model is finally judged against.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0" name="Text 38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recordings to clean, model-ready features.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modalities required substantial preprocessing. Audio QC alone removed 13% of the corpus due to corrupt headers; transcript cleaning preserved diagnostic markers other pipelines drop. Every step is deterministic and reproducible.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40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40680" cy="45720"/>
          </a:xfrm>
          <a:prstGeom prst="rect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PIPELINE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365760" cy="365760"/>
          </a:xfrm>
          <a:prstGeom prst="ellipse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 normalisation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862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→ WAV via FFmpeg. Resample to 16 kHz, 16-bit, mono.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319272"/>
            <a:ext cx="365760" cy="365760"/>
          </a:xfrm>
          <a:prstGeom prst="ellipse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5" name="Text 13"/>
          <p:cNvSpPr/>
          <p:nvPr/>
        </p:nvSpPr>
        <p:spPr>
          <a:xfrm>
            <a:off x="77724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319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Header validation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575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of 1,290 files had corrupt RIFF headers; ffmpeg re-encoded 92, 72 unrecoverable.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4032504"/>
            <a:ext cx="365760" cy="365760"/>
          </a:xfrm>
          <a:prstGeom prst="ellipse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9" name="Text 17"/>
          <p:cNvSpPr/>
          <p:nvPr/>
        </p:nvSpPr>
        <p:spPr>
          <a:xfrm>
            <a:off x="77724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40325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activity detection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2885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Praat silence detector with 200ms threshold — pause boundaries.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4745736"/>
            <a:ext cx="365760" cy="365760"/>
          </a:xfrm>
          <a:prstGeom prst="ellipse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3" name="Text 21"/>
          <p:cNvSpPr/>
          <p:nvPr/>
        </p:nvSpPr>
        <p:spPr>
          <a:xfrm>
            <a:off x="77724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4745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Parselmouth/Praat for pitch, jitter, shimmer, pause statistics.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5458968"/>
            <a:ext cx="365760" cy="365760"/>
          </a:xfrm>
          <a:prstGeom prst="ellipse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7" name="Text 25"/>
          <p:cNvSpPr/>
          <p:nvPr/>
        </p:nvSpPr>
        <p:spPr>
          <a:xfrm>
            <a:off x="777240" y="545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80160" y="5458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 capping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5715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99th percentile capping for extreme acoustic measurements.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2103120"/>
            <a:ext cx="5440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1" name="Shape 29"/>
          <p:cNvSpPr/>
          <p:nvPr/>
        </p:nvSpPr>
        <p:spPr>
          <a:xfrm>
            <a:off x="6199632" y="2103120"/>
            <a:ext cx="5440680" cy="457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32" name="Text 30"/>
          <p:cNvSpPr/>
          <p:nvPr/>
        </p:nvSpPr>
        <p:spPr>
          <a:xfrm>
            <a:off x="6428232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4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 PIPELINE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28232" y="2606040"/>
            <a:ext cx="365760" cy="365760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34" name="Text 32"/>
          <p:cNvSpPr/>
          <p:nvPr/>
        </p:nvSpPr>
        <p:spPr>
          <a:xfrm>
            <a:off x="642823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31152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format parsing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31152" y="2862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*PAR (participant) lines only; remove *INV (investigator).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28232" y="3319272"/>
            <a:ext cx="365760" cy="365760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38" name="Text 36"/>
          <p:cNvSpPr/>
          <p:nvPr/>
        </p:nvSpPr>
        <p:spPr>
          <a:xfrm>
            <a:off x="6428232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31152" y="3319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Annotation cleaning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3575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[/] retracings, [//] repetitions, time codes — keep *content*.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28232" y="4032504"/>
            <a:ext cx="365760" cy="365760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2" name="Text 40"/>
          <p:cNvSpPr/>
          <p:nvPr/>
        </p:nvSpPr>
        <p:spPr>
          <a:xfrm>
            <a:off x="6428232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31152" y="40325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Filled-pause preservation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31152" y="42885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&amp;-uh, &amp;-um, &amp;-hm → “uh”, “um”, “hm” (rescued ~4,989 tokens).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28232" y="4745736"/>
            <a:ext cx="365760" cy="365760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6" name="Text 44"/>
          <p:cNvSpPr/>
          <p:nvPr/>
        </p:nvSpPr>
        <p:spPr>
          <a:xfrm>
            <a:off x="6428232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31152" y="4745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spaCy NLP pipeline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31152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Tokenisation, lemmatisation, POS tagging, dependency parsing.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28232" y="5458968"/>
            <a:ext cx="365760" cy="365760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50" name="Text 48"/>
          <p:cNvSpPr/>
          <p:nvPr/>
        </p:nvSpPr>
        <p:spPr>
          <a:xfrm>
            <a:off x="6428232" y="545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31152" y="5458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aggregation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31152" y="5715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summary stats: ratios, complexity, repetition, biomarker rates.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4" name="Text 52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audio to diagnosis — the full pipeline.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Speech audio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.WAV  /  .MP3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1" name="Text 9"/>
          <p:cNvSpPr/>
          <p:nvPr/>
        </p:nvSpPr>
        <p:spPr>
          <a:xfrm>
            <a:off x="548640" y="2715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 /  raw text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0896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EXTRACTORS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1920240"/>
            <a:ext cx="219456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0E6B5E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5" name="Text 13"/>
          <p:cNvSpPr/>
          <p:nvPr/>
        </p:nvSpPr>
        <p:spPr>
          <a:xfrm>
            <a:off x="3200400" y="1956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E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ACOUSTIC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0" y="1956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Parselmouth/Praat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9568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feat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08960" y="2304288"/>
            <a:ext cx="219456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6B46C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9" name="Text 17"/>
          <p:cNvSpPr/>
          <p:nvPr/>
        </p:nvSpPr>
        <p:spPr>
          <a:xfrm>
            <a:off x="3200400" y="23408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4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LINGUISTIC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0" y="23408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3408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feat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08960" y="2688336"/>
            <a:ext cx="219456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47B1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3" name="Text 21"/>
          <p:cNvSpPr/>
          <p:nvPr/>
        </p:nvSpPr>
        <p:spPr>
          <a:xfrm>
            <a:off x="3200400" y="2724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14800" y="27249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Sentence-BERT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27249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feat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108960" y="3072384"/>
            <a:ext cx="219456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B8336A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7" name="Text 25"/>
          <p:cNvSpPr/>
          <p:nvPr/>
        </p:nvSpPr>
        <p:spPr>
          <a:xfrm>
            <a:off x="32004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83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BIOMARKER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0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Disfluency rates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31089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feat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94360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2423160"/>
            <a:ext cx="1371600" cy="77724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32" name="Text 30"/>
          <p:cNvSpPr/>
          <p:nvPr/>
        </p:nvSpPr>
        <p:spPr>
          <a:xfrm>
            <a:off x="594360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32-dim vector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2807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+ 4 task z-scores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863840" y="2423160"/>
            <a:ext cx="13716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1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6" name="Text 34"/>
          <p:cNvSpPr/>
          <p:nvPr/>
        </p:nvSpPr>
        <p:spPr>
          <a:xfrm>
            <a:off x="7863840" y="24231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router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84080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SPECIALISTS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784080" y="1920240"/>
            <a:ext cx="2103120" cy="640080"/>
          </a:xfrm>
          <a:prstGeom prst="rect">
            <a:avLst/>
          </a:prstGeom>
          <a:solidFill>
            <a:srgbClr val="F4EDE0"/>
          </a:solidFill>
          <a:ln w="12700">
            <a:solidFill>
              <a:srgbClr val="0E6B5E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9" name="Text 37"/>
          <p:cNvSpPr/>
          <p:nvPr/>
        </p:nvSpPr>
        <p:spPr>
          <a:xfrm>
            <a:off x="9784080" y="1938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Cookie specialist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84080" y="2194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Optuna-tuned · XGB+RF+SVM+LR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784080" y="2651760"/>
            <a:ext cx="2103120" cy="640080"/>
          </a:xfrm>
          <a:prstGeom prst="rect">
            <a:avLst/>
          </a:prstGeom>
          <a:solidFill>
            <a:srgbClr val="F4EDE0"/>
          </a:solidFill>
          <a:ln w="12700">
            <a:solidFill>
              <a:srgbClr val="B8336A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2" name="Text 40"/>
          <p:cNvSpPr/>
          <p:nvPr/>
        </p:nvSpPr>
        <p:spPr>
          <a:xfrm>
            <a:off x="9784080" y="2670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3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Non-cookie specialist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784080" y="2926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params · same 4 models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468880" y="2258568"/>
            <a:ext cx="640080" cy="0"/>
          </a:xfrm>
          <a:prstGeom prst="line">
            <a:avLst/>
          </a:prstGeom>
          <a:noFill/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5" name="Shape 43"/>
          <p:cNvSpPr/>
          <p:nvPr/>
        </p:nvSpPr>
        <p:spPr>
          <a:xfrm>
            <a:off x="2468880" y="3026664"/>
            <a:ext cx="640080" cy="0"/>
          </a:xfrm>
          <a:prstGeom prst="line">
            <a:avLst/>
          </a:prstGeom>
          <a:noFill/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6" name="Shape 44"/>
          <p:cNvSpPr/>
          <p:nvPr/>
        </p:nvSpPr>
        <p:spPr>
          <a:xfrm>
            <a:off x="5303520" y="2834640"/>
            <a:ext cx="640080" cy="0"/>
          </a:xfrm>
          <a:prstGeom prst="line">
            <a:avLst/>
          </a:prstGeom>
          <a:noFill/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7" name="Shape 45"/>
          <p:cNvSpPr/>
          <p:nvPr/>
        </p:nvSpPr>
        <p:spPr>
          <a:xfrm>
            <a:off x="7315200" y="2834640"/>
            <a:ext cx="548640" cy="0"/>
          </a:xfrm>
          <a:prstGeom prst="line">
            <a:avLst/>
          </a:prstGeom>
          <a:noFill/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8" name="Shape 46"/>
          <p:cNvSpPr/>
          <p:nvPr/>
        </p:nvSpPr>
        <p:spPr>
          <a:xfrm>
            <a:off x="9235440" y="2834640"/>
            <a:ext cx="548640" cy="0"/>
          </a:xfrm>
          <a:prstGeom prst="line">
            <a:avLst/>
          </a:prstGeom>
          <a:noFill/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9" name="Shape 47"/>
          <p:cNvSpPr/>
          <p:nvPr/>
        </p:nvSpPr>
        <p:spPr>
          <a:xfrm>
            <a:off x="3657600" y="4572000"/>
            <a:ext cx="4846320" cy="91440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50" name="Shape 48"/>
          <p:cNvSpPr/>
          <p:nvPr/>
        </p:nvSpPr>
        <p:spPr>
          <a:xfrm>
            <a:off x="3657600" y="4572000"/>
            <a:ext cx="4846320" cy="54864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51" name="Text 49"/>
          <p:cNvSpPr/>
          <p:nvPr/>
        </p:nvSpPr>
        <p:spPr>
          <a:xfrm>
            <a:off x="3657600" y="4709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(Dementia | speech)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365760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Calibrated probability  ·  Control / Dementia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835640" y="3337560"/>
            <a:ext cx="0" cy="548640"/>
          </a:xfrm>
          <a:prstGeom prst="line">
            <a:avLst/>
          </a:prstGeom>
          <a:noFill/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4" name="Shape 52"/>
          <p:cNvSpPr/>
          <p:nvPr/>
        </p:nvSpPr>
        <p:spPr>
          <a:xfrm>
            <a:off x="6080760" y="3886200"/>
            <a:ext cx="4754880" cy="0"/>
          </a:xfrm>
          <a:prstGeom prst="line">
            <a:avLst/>
          </a:prstGeom>
          <a:noFill/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5" name="Shape 53"/>
          <p:cNvSpPr/>
          <p:nvPr/>
        </p:nvSpPr>
        <p:spPr>
          <a:xfrm>
            <a:off x="6080760" y="3886200"/>
            <a:ext cx="0" cy="685800"/>
          </a:xfrm>
          <a:prstGeom prst="line">
            <a:avLst/>
          </a:prstGeom>
          <a:noFill/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6" name="Text 54"/>
          <p:cNvSpPr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speech sample is converted to a 32-dimensional feature vector across four complementary modalities, routed by task type to a specialist ensemble, and emerges as a calibrated dementia probability, every component is interpretable.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8" name="Text 56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features. Four modalities. Independent signal.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speech sample is converted into a 32-dimensional vector spanning four complementary modalities. Cross-modal correlations remain below |r| &lt; 0.30, confirming each modality captures independent information.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05584"/>
            <a:ext cx="5440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91440" cy="205740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4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LINGUISTIC · spaCy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97780" y="20589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syntactic_complexity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69080" y="2560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0.97 (large)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843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pronoun_noun_ratio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69080" y="28437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0.42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3127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repetition_rate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69080" y="3127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0.40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410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word_frequency_index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69080" y="3410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access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3694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content_function_ratio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69080" y="3694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word-class balance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2057400"/>
            <a:ext cx="5440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2" name="Shape 20"/>
          <p:cNvSpPr/>
          <p:nvPr/>
        </p:nvSpPr>
        <p:spPr>
          <a:xfrm>
            <a:off x="6217920" y="2057400"/>
            <a:ext cx="91440" cy="2057400"/>
          </a:xfrm>
          <a:prstGeom prst="rect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3" name="Text 21"/>
          <p:cNvSpPr/>
          <p:nvPr/>
        </p:nvSpPr>
        <p:spPr>
          <a:xfrm>
            <a:off x="649224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ACOUSTIC · Praat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28655" y="20589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49224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mean_pause_duration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738360" y="2560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 in dementia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2843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pitch_variability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38360" y="28437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 in dementia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127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pitch_range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738360" y="3127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dynamic range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3410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jitter, shimmer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738360" y="3410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quality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3694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speech_time_ratio, intensity_range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738360" y="3694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251960"/>
            <a:ext cx="5440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91440" cy="2057400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37" name="Text 35"/>
          <p:cNvSpPr/>
          <p:nvPr/>
        </p:nvSpPr>
        <p:spPr>
          <a:xfrm>
            <a:off x="82296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· SBERT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97780" y="42336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822960" y="4754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information_unit_coverage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069080" y="4754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2.05 — DOMINANT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" y="5038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story_recall_similarity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069080" y="5038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0.56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" y="5321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global_semantic_drift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069080" y="5321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wandering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2960" y="5605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semantic_coherence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069080" y="5605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sentence-to-sentence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4251960"/>
            <a:ext cx="5440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8" name="Shape 46"/>
          <p:cNvSpPr/>
          <p:nvPr/>
        </p:nvSpPr>
        <p:spPr>
          <a:xfrm>
            <a:off x="6217920" y="4251960"/>
            <a:ext cx="91440" cy="2057400"/>
          </a:xfrm>
          <a:prstGeom prst="rect">
            <a:avLst/>
          </a:prstGeom>
          <a:solidFill>
            <a:srgbClr val="B8336A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9" name="Text 47"/>
          <p:cNvSpPr/>
          <p:nvPr/>
        </p:nvSpPr>
        <p:spPr>
          <a:xfrm>
            <a:off x="649224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3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BIOMARKER · Disfluency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74420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51" name="Text 49"/>
          <p:cNvSpPr/>
          <p:nvPr/>
        </p:nvSpPr>
        <p:spPr>
          <a:xfrm>
            <a:off x="6492240" y="4754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fragment_rate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738360" y="4754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words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92240" y="5038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revision_rate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738360" y="5038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92240" y="5321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filler_rate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738360" y="5321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um, uh, hm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92240" y="5605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unfilled_pause_rate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738360" y="5605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92240" y="5888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utterance_rate, words_per_utterance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738360" y="5888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62" name="Text 60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ITERATIONS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filled-pause bug, caught by EDA and fixed before training.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iterations rarely make it into final reports, but they’re where most of the work happens. Here are four design iterations that materially changed our results.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657600" cy="45720"/>
          </a:xfrm>
          <a:prstGeom prst="rect">
            <a:avLst/>
          </a:prstGeom>
          <a:solidFill>
            <a:srgbClr val="B8336A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3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format markers like &amp;-uh, &amp;-um, &amp;-hm were stripped during transcript cleaning.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*PAR: the boy is &amp;-uh getting cookies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cleaned 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boy is getting cookies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892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349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pauses were silently deleted as "noise."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0832" y="210312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8" name="Shape 16"/>
          <p:cNvSpPr/>
          <p:nvPr/>
        </p:nvSpPr>
        <p:spPr>
          <a:xfrm>
            <a:off x="4370832" y="2103120"/>
            <a:ext cx="3657600" cy="45720"/>
          </a:xfrm>
          <a:prstGeom prst="rect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9" name="Text 17"/>
          <p:cNvSpPr/>
          <p:nvPr/>
        </p:nvSpPr>
        <p:spPr>
          <a:xfrm>
            <a:off x="4599432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6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99432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cleaning script updated to convert filled pauses to words instead of deleting them.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99432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99432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&amp;-uh → "uh"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99432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&amp;-um → "um"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9432" y="4434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&amp;-hm → "hm"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99432" y="4892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9432" y="5349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Disfluency rates now extractable as biomarkers.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93024" y="210312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8" name="Shape 26"/>
          <p:cNvSpPr/>
          <p:nvPr/>
        </p:nvSpPr>
        <p:spPr>
          <a:xfrm>
            <a:off x="8193024" y="2103120"/>
            <a:ext cx="3657600" cy="45720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9" name="Text 27"/>
          <p:cNvSpPr/>
          <p:nvPr/>
        </p:nvSpPr>
        <p:spPr>
          <a:xfrm>
            <a:off x="8421624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21624" y="2606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~4,989 disfluency tokens rescued across the full corpus.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21624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21624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unlocked: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21624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filler_rate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21624" y="4434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unfilled_pause_rate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21624" y="4892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21624" y="5349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+8.8 pp once these were added in.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8" name="Text 36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(1/2)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features show massive separation — d = 2.05 dominant.</a:t>
            </a:r>
            <a:endParaRPr lang="en-US" sz="2600" dirty="0"/>
          </a:p>
        </p:txBody>
      </p:sp>
      <p:pic>
        <p:nvPicPr>
          <p:cNvPr id="6" name="Image 0" descr="/home/claude/poster_v2/figures/eda_all_boxplots_seman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10552612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89204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  ·  SEMANTIC FEATURES  ·  CONTROL VS. DEMENTIA  ·  COHEN’S 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5486400"/>
            <a:ext cx="11094415" cy="914400"/>
          </a:xfrm>
          <a:prstGeom prst="rect">
            <a:avLst/>
          </a:prstGeom>
          <a:solidFill>
            <a:srgbClr val="F4EDE0"/>
          </a:solidFill>
          <a:ln w="12700">
            <a:solidFill>
              <a:srgbClr val="C47B1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9" name="Text 6"/>
          <p:cNvSpPr/>
          <p:nvPr/>
        </p:nvSpPr>
        <p:spPr>
          <a:xfrm>
            <a:off x="777240" y="55778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5852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information_unit_coverage shows the largest single-feature separation observed in the literature on this corpus (d = 2.05). story_recall_similarity (d = 0.56) and global_semantic_drift (d = 0.29) are also significant. semantic_coherence is non-significant, kept as a regulariser. All p-values Bonferroni-corrected.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2" name="Text 9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(2/2)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single model isn’t enough and how routing fixes it.</a:t>
            </a:r>
            <a:endParaRPr lang="en-US" sz="2600" dirty="0"/>
          </a:p>
        </p:txBody>
      </p:sp>
      <p:pic>
        <p:nvPicPr>
          <p:cNvPr id="6" name="Image 0" descr="/home/claude/poster_v2/figures/eda_all_by_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705141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06440"/>
            <a:ext cx="57051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2  ·  TOP FEATURES BY TASK TYPE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68096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80960" y="19659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information_unit_coverage is the strongest predictor in the dataset (d = 2.05). But it is only meaningful for the Cookie Theft task while for fluency, recall, and sentence tasks it is identically zero. A single model treats this zero as a feature value, contaminating the signal.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3611880"/>
            <a:ext cx="4297680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1" name="Text 8"/>
          <p:cNvSpPr/>
          <p:nvPr/>
        </p:nvSpPr>
        <p:spPr>
          <a:xfrm>
            <a:off x="768096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fix: task routing.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680960" y="416052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two specialists: one on Cookie Theft samples (Optuna-tuned XGB + RF + SVM + LR), one on the rest (default-param ensemble). At inference, samples are routed by task type. The cookie specialist gets to fully exploit information_unit_coverage; the non-cookie specialist isn’t penalised by its absence.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0" y="6035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+2.5 pp accuracy over the simple-average ensemble.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5" name="Text 12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methodology : how we trained, tuned, and tested.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92.2% test number means nothing without protocol detail. Below: the exact splits and CV procedure used for every result reported in this presentation. Identical to the protocol Sarawgi 2020 used, allowing fair comparison.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split (participant-level, stratified)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8875532" cy="640080"/>
          </a:xfrm>
          <a:prstGeom prst="rect">
            <a:avLst/>
          </a:prstGeom>
          <a:solidFill>
            <a:srgbClr val="0E6B5E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88755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 ·  80%  ·  ~234 patients  ·  885 samples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424172" y="2651760"/>
            <a:ext cx="1109442" cy="640080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1" name="Text 9"/>
          <p:cNvSpPr/>
          <p:nvPr/>
        </p:nvSpPr>
        <p:spPr>
          <a:xfrm>
            <a:off x="9424172" y="2651760"/>
            <a:ext cx="1109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  ·  10%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33614" y="2651760"/>
            <a:ext cx="1109442" cy="64008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3" name="Text 11"/>
          <p:cNvSpPr/>
          <p:nvPr/>
        </p:nvSpPr>
        <p:spPr>
          <a:xfrm>
            <a:off x="10533614" y="2651760"/>
            <a:ext cx="1109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 ·  10%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PARTICIPANT-LEVEL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patient leakage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operate on participant IDs, not samples. A single patient’s 4 cognitive task recordings always go to the same split. Prevents the model from "recognising" a known speaker.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0832" y="365760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9" name="Text 17"/>
          <p:cNvSpPr/>
          <p:nvPr/>
        </p:nvSpPr>
        <p:spPr>
          <a:xfrm>
            <a:off x="4599432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STRATIFIED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99432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Class-balanced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99432" y="4434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~1:5 control/dementia ratio preserved across train/val/test. Otherwise, the test set could randomly under-represent controls and inflate accuracy.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93024" y="365760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3" name="Text 21"/>
          <p:cNvSpPr/>
          <p:nvPr/>
        </p:nvSpPr>
        <p:spPr>
          <a:xfrm>
            <a:off x="8421624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21624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random_state = 42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21624" y="4434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split every run. Every result in this presentation is reproducible from the same seed. Logged in version control alongside the code.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11094415" cy="86868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7" name="Text 25"/>
          <p:cNvSpPr/>
          <p:nvPr/>
        </p:nvSpPr>
        <p:spPr>
          <a:xfrm>
            <a:off x="777240" y="55778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TUNING &amp; MODEL SELECTION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58338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the train set for hyperparameter search and model selection. Validation set held aside for threshold tuning. Test set touched ONCE — the very last run, after the final architecture and parameters were locked.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0" name="Text 28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MODELING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step earned its accuracy gain.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below was trained, validated, and tested under the same protocol. Each architectural choice is justified by a measured gain. No step is decorative.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2468880"/>
            <a:ext cx="0" cy="365760"/>
          </a:xfrm>
          <a:prstGeom prst="line">
            <a:avLst/>
          </a:prstGeom>
          <a:noFill/>
          <a:ln w="12700">
            <a:solidFill>
              <a:srgbClr val="A0405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548640" cy="548640"/>
          </a:xfrm>
          <a:prstGeom prst="ellipse">
            <a:avLst/>
          </a:prstGeom>
          <a:solidFill>
            <a:srgbClr val="F4EDE0"/>
          </a:solidFill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21488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Acoustic-only XGBoost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41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using 7 Praat features only — confirms acoustic signal alone is insufficient.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92640" y="2212848"/>
            <a:ext cx="1645920" cy="411480"/>
          </a:xfrm>
          <a:prstGeom prst="rect">
            <a:avLst/>
          </a:prstGeom>
          <a:solidFill>
            <a:srgbClr val="F4EDE0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3" name="Text 11"/>
          <p:cNvSpPr/>
          <p:nvPr/>
        </p:nvSpPr>
        <p:spPr>
          <a:xfrm>
            <a:off x="9692640" y="22128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81.9%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3127248"/>
            <a:ext cx="0" cy="365760"/>
          </a:xfrm>
          <a:prstGeom prst="line">
            <a:avLst/>
          </a:prstGeom>
          <a:noFill/>
          <a:ln w="12700">
            <a:solidFill>
              <a:srgbClr val="A0405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5" name="Shape 13"/>
          <p:cNvSpPr/>
          <p:nvPr/>
        </p:nvSpPr>
        <p:spPr>
          <a:xfrm>
            <a:off x="685800" y="2807208"/>
            <a:ext cx="548640" cy="548640"/>
          </a:xfrm>
          <a:prstGeom prst="ellipse">
            <a:avLst/>
          </a:prstGeom>
          <a:solidFill>
            <a:srgbClr val="F4EDE0"/>
          </a:solidFill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6" name="Text 14"/>
          <p:cNvSpPr/>
          <p:nvPr/>
        </p:nvSpPr>
        <p:spPr>
          <a:xfrm>
            <a:off x="68580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28072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· 20 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0998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+ acoustic + early semantic; class weighting beats SMOTE on validation.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92640" y="2871216"/>
            <a:ext cx="1645920" cy="411480"/>
          </a:xfrm>
          <a:prstGeom prst="rect">
            <a:avLst/>
          </a:prstGeom>
          <a:solidFill>
            <a:srgbClr val="F4EDE0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0" name="Text 18"/>
          <p:cNvSpPr/>
          <p:nvPr/>
        </p:nvSpPr>
        <p:spPr>
          <a:xfrm>
            <a:off x="9692640" y="28712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87.1%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3785616"/>
            <a:ext cx="0" cy="365760"/>
          </a:xfrm>
          <a:prstGeom prst="line">
            <a:avLst/>
          </a:prstGeom>
          <a:noFill/>
          <a:ln w="12700">
            <a:solidFill>
              <a:srgbClr val="A0405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2" name="Shape 20"/>
          <p:cNvSpPr/>
          <p:nvPr/>
        </p:nvSpPr>
        <p:spPr>
          <a:xfrm>
            <a:off x="685800" y="3465576"/>
            <a:ext cx="548640" cy="548640"/>
          </a:xfrm>
          <a:prstGeom prst="ellipse">
            <a:avLst/>
          </a:prstGeom>
          <a:solidFill>
            <a:srgbClr val="F4EDE0"/>
          </a:solidFill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3" name="Text 21"/>
          <p:cNvSpPr/>
          <p:nvPr/>
        </p:nvSpPr>
        <p:spPr>
          <a:xfrm>
            <a:off x="685800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346557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Biomarker rates &amp; task z-scores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37581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disfluency rates and 4 task-normalised z-scores added — F1 lifts +8.8 pp.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92640" y="3529584"/>
            <a:ext cx="1645920" cy="411480"/>
          </a:xfrm>
          <a:prstGeom prst="rect">
            <a:avLst/>
          </a:prstGeom>
          <a:solidFill>
            <a:srgbClr val="F4EDE0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7" name="Text 25"/>
          <p:cNvSpPr/>
          <p:nvPr/>
        </p:nvSpPr>
        <p:spPr>
          <a:xfrm>
            <a:off x="9692640" y="35295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88.8%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0120" y="4443984"/>
            <a:ext cx="0" cy="365760"/>
          </a:xfrm>
          <a:prstGeom prst="line">
            <a:avLst/>
          </a:prstGeom>
          <a:noFill/>
          <a:ln w="12700">
            <a:solidFill>
              <a:srgbClr val="A0405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9" name="Shape 27"/>
          <p:cNvSpPr/>
          <p:nvPr/>
        </p:nvSpPr>
        <p:spPr>
          <a:xfrm>
            <a:off x="685800" y="4123944"/>
            <a:ext cx="548640" cy="548640"/>
          </a:xfrm>
          <a:prstGeom prst="ellipse">
            <a:avLst/>
          </a:prstGeom>
          <a:solidFill>
            <a:srgbClr val="F4EDE0"/>
          </a:solidFill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0" name="Text 28"/>
          <p:cNvSpPr/>
          <p:nvPr/>
        </p:nvSpPr>
        <p:spPr>
          <a:xfrm>
            <a:off x="685800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41239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Optuna hyperparameter tuning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44165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50-trial TPE search, 5-fold CV; macro-F1 improves to 0.800 even though accuracy is unchanged.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92640" y="4187952"/>
            <a:ext cx="1645920" cy="411480"/>
          </a:xfrm>
          <a:prstGeom prst="rect">
            <a:avLst/>
          </a:prstGeom>
          <a:solidFill>
            <a:srgbClr val="F4EDE0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34" name="Text 32"/>
          <p:cNvSpPr/>
          <p:nvPr/>
        </p:nvSpPr>
        <p:spPr>
          <a:xfrm>
            <a:off x="9692640" y="4187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88.8%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60120" y="5102352"/>
            <a:ext cx="0" cy="365760"/>
          </a:xfrm>
          <a:prstGeom prst="line">
            <a:avLst/>
          </a:prstGeom>
          <a:noFill/>
          <a:ln w="12700">
            <a:solidFill>
              <a:srgbClr val="A04050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6" name="Shape 34"/>
          <p:cNvSpPr/>
          <p:nvPr/>
        </p:nvSpPr>
        <p:spPr>
          <a:xfrm>
            <a:off x="685800" y="4782312"/>
            <a:ext cx="548640" cy="548640"/>
          </a:xfrm>
          <a:prstGeom prst="ellipse">
            <a:avLst/>
          </a:prstGeom>
          <a:solidFill>
            <a:srgbClr val="F4EDE0"/>
          </a:solidFill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7" name="Text 35"/>
          <p:cNvSpPr/>
          <p:nvPr/>
        </p:nvSpPr>
        <p:spPr>
          <a:xfrm>
            <a:off x="68580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47823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Simple-averaging ensemble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463040" y="5074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+ RF + SVM + LR predictions averaged — outperforms stacking on this corpus.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692640" y="4846320"/>
            <a:ext cx="1645920" cy="411480"/>
          </a:xfrm>
          <a:prstGeom prst="rect">
            <a:avLst/>
          </a:prstGeom>
          <a:solidFill>
            <a:srgbClr val="F4EDE0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1" name="Text 39"/>
          <p:cNvSpPr/>
          <p:nvPr/>
        </p:nvSpPr>
        <p:spPr>
          <a:xfrm>
            <a:off x="9692640" y="4846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89.7%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5800" y="5440680"/>
            <a:ext cx="548640" cy="548640"/>
          </a:xfrm>
          <a:prstGeom prst="ellipse">
            <a:avLst/>
          </a:prstGeom>
          <a:solidFill>
            <a:srgbClr val="C47B16"/>
          </a:solidFill>
          <a:ln w="12700">
            <a:solidFill>
              <a:srgbClr val="C47B1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3" name="Text 41"/>
          <p:cNvSpPr/>
          <p:nvPr/>
        </p:nvSpPr>
        <p:spPr>
          <a:xfrm>
            <a:off x="68580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63040" y="5440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Task-routed ensemble + train+val refit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463040" y="57332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specialist on cookie-only samples; non-cookie specialist on the rest. Final model refit on train+val. +4.2 pp over published SoTA.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692640" y="5504688"/>
            <a:ext cx="1645920" cy="41148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7" name="Text 45"/>
          <p:cNvSpPr/>
          <p:nvPr/>
        </p:nvSpPr>
        <p:spPr>
          <a:xfrm>
            <a:off x="9692640" y="55046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92.2%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9" name="Text 47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COUNTERPOINT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Transformers don’t always win, at least, not on this kind of data.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BERT (fine-tuned) and BERT + acoustic fusion as fair counterpoints. With only ~880 training samples, hand-crafted domain features outperform transformers by 7.7 pp — a critical finding for clinical AI under data scarcity.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94415" cy="0"/>
          </a:xfrm>
          <a:prstGeom prst="line">
            <a:avLst/>
          </a:prstGeom>
          <a:noFill/>
          <a:ln w="12700">
            <a:solidFill>
              <a:srgbClr val="7A1C2C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244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3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Acoustic-only XGB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81.9%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0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1094415" cy="0"/>
          </a:xfrm>
          <a:prstGeom prst="line">
            <a:avLst/>
          </a:prstGeom>
          <a:noFill/>
          <a:ln w="381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7" name="Text 15"/>
          <p:cNvSpPr/>
          <p:nvPr/>
        </p:nvSpPr>
        <p:spPr>
          <a:xfrm>
            <a:off x="640080" y="295351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3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 fine-tuned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9535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84.5%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92440" y="29535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0.777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0" y="29535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19272"/>
            <a:ext cx="11094415" cy="0"/>
          </a:xfrm>
          <a:prstGeom prst="line">
            <a:avLst/>
          </a:prstGeom>
          <a:noFill/>
          <a:ln w="381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2" name="Text 20"/>
          <p:cNvSpPr/>
          <p:nvPr/>
        </p:nvSpPr>
        <p:spPr>
          <a:xfrm>
            <a:off x="640080" y="334670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3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 + acoustic fusion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3467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86.2%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33467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0" y="33467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712464"/>
            <a:ext cx="11094415" cy="0"/>
          </a:xfrm>
          <a:prstGeom prst="line">
            <a:avLst/>
          </a:prstGeom>
          <a:noFill/>
          <a:ln w="381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7" name="Text 25"/>
          <p:cNvSpPr/>
          <p:nvPr/>
        </p:nvSpPr>
        <p:spPr>
          <a:xfrm>
            <a:off x="640080" y="373989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3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 — 20 feat.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739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87.1%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92440" y="3739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0" y="373989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105656"/>
            <a:ext cx="11094415" cy="0"/>
          </a:xfrm>
          <a:prstGeom prst="line">
            <a:avLst/>
          </a:prstGeom>
          <a:noFill/>
          <a:ln w="381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2" name="Text 30"/>
          <p:cNvSpPr/>
          <p:nvPr/>
        </p:nvSpPr>
        <p:spPr>
          <a:xfrm>
            <a:off x="640080" y="413308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62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Sarawgi 2020 (SoTA)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4133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92440" y="4133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0" y="4133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498848"/>
            <a:ext cx="11094415" cy="0"/>
          </a:xfrm>
          <a:prstGeom prst="line">
            <a:avLst/>
          </a:prstGeom>
          <a:noFill/>
          <a:ln w="381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7" name="Text 35"/>
          <p:cNvSpPr/>
          <p:nvPr/>
        </p:nvSpPr>
        <p:spPr>
          <a:xfrm>
            <a:off x="640080" y="45262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3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 — 32 feat. tuned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45262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88.8%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45262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01200" y="45262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4892040"/>
            <a:ext cx="11094415" cy="0"/>
          </a:xfrm>
          <a:prstGeom prst="line">
            <a:avLst/>
          </a:prstGeom>
          <a:noFill/>
          <a:ln w="381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2" name="Text 40"/>
          <p:cNvSpPr/>
          <p:nvPr/>
        </p:nvSpPr>
        <p:spPr>
          <a:xfrm>
            <a:off x="640080" y="491947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3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Simple-avg ensemble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83680" y="4919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89.7%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92440" y="4919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601200" y="4919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A30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0.929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5285232"/>
            <a:ext cx="11094415" cy="0"/>
          </a:xfrm>
          <a:prstGeom prst="line">
            <a:avLst/>
          </a:prstGeom>
          <a:noFill/>
          <a:ln w="381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7" name="Shape 45"/>
          <p:cNvSpPr/>
          <p:nvPr/>
        </p:nvSpPr>
        <p:spPr>
          <a:xfrm>
            <a:off x="548640" y="5285232"/>
            <a:ext cx="11094415" cy="384048"/>
          </a:xfrm>
          <a:prstGeom prst="rect">
            <a:avLst/>
          </a:prstGeom>
          <a:solidFill>
            <a:srgbClr val="FFE9C2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8" name="Text 46"/>
          <p:cNvSpPr/>
          <p:nvPr/>
        </p:nvSpPr>
        <p:spPr>
          <a:xfrm>
            <a:off x="640080" y="531266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Task-routed ensemble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83680" y="53126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92.2%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92440" y="53126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601200" y="53126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5678424"/>
            <a:ext cx="11094415" cy="0"/>
          </a:xfrm>
          <a:prstGeom prst="line">
            <a:avLst/>
          </a:prstGeom>
          <a:noFill/>
          <a:ln w="381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3" name="Shape 51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54" name="Text 52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92.2% test accuracy — </a:t>
            </a:r>
            <a:r>
              <a:rPr lang="en-US" sz="2600" b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beats published SoTA (88.0%) by +4.2 pp.</a:t>
            </a:r>
            <a:endParaRPr lang="en-US" sz="2600" dirty="0"/>
          </a:p>
        </p:txBody>
      </p:sp>
      <p:pic>
        <p:nvPicPr>
          <p:cNvPr id="6" name="Image 0" descr="/home/claude/poster_v2/figures/max_accuracy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410" y="1463040"/>
            <a:ext cx="7396875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67588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3  ·  CONFUSION MATRICES  ·  HELD-OUT TEST SET (n=116)</a:t>
            </a:r>
            <a:endParaRPr lang="en-US" sz="800" dirty="0"/>
          </a:p>
        </p:txBody>
      </p:sp>
      <p:pic>
        <p:nvPicPr>
          <p:cNvPr id="8" name="Image 1" descr="/home/claude/poster_v2/figures/max_accuracy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996" y="3931920"/>
            <a:ext cx="5787702" cy="2377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632764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4  ·  PIPELINE COMPARISON  ·  TEST-SET ACCURACY, F1, ROC-AUC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1" name="Text 7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INTERPRETABILITY (1/3)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global feature importance — what the model attends to.</a:t>
            </a:r>
            <a:endParaRPr lang="en-US" sz="2600" dirty="0"/>
          </a:p>
        </p:txBody>
      </p:sp>
      <p:pic>
        <p:nvPicPr>
          <p:cNvPr id="6" name="Image 0" descr="/home/claude/poster_v2/figures/shap_bees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463040"/>
            <a:ext cx="4641669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062472"/>
            <a:ext cx="4641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7  ·  SHAP BEESWARM  ·  IMPACT &amp; DIRECTION PER SAMPLE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001694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plot.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001694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test sample. Red = high feature value, blue = low. Dots to the right push the prediction toward dementia; left, toward control.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01694" y="2971800"/>
            <a:ext cx="4206240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1" name="Text 8"/>
          <p:cNvSpPr/>
          <p:nvPr/>
        </p:nvSpPr>
        <p:spPr>
          <a:xfrm>
            <a:off x="7001694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stands out.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001694" y="3566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information_unit_coverage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01694" y="38130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|SHAP| = 3.16 — 4× the next feature. Low coverage (blue) drives dementia prediction; high (red) drives control.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01694" y="4279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word_count, syntactic_complexity_z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01694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complexity → control. Direction matches clinical knowledge of AD speech.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01694" y="4992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fragment_rate, revision_rate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001694" y="5239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Disfluency rates push toward dementia when high. This confirms biomarker validity.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001694" y="5705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pitch_variability, intensity_range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979615" y="58658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features contribute, smaller magnitude but consistent direction.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1" name="Text 18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INTERPRETABILITY (2/3)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prediction is auditable, a clinician can check the work.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sample gets a SHAP waterfall showing exactly which features drove the model’s decision and by how much. Below: a true-positive dementia case (left) and a true-negative control case (right).</a:t>
            </a:r>
            <a:endParaRPr lang="en-US" sz="1200" dirty="0"/>
          </a:p>
        </p:txBody>
      </p:sp>
      <p:pic>
        <p:nvPicPr>
          <p:cNvPr id="7" name="Image 0" descr="/home/claude/poster_v2/figures/shap_waterfall_true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422173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71032"/>
            <a:ext cx="4221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8  ·  TRUE POSITIVE (DEMENTIA, CONFIDENCE = 1.00)</a:t>
            </a:r>
            <a:endParaRPr lang="en-US" sz="800" dirty="0"/>
          </a:p>
        </p:txBody>
      </p:sp>
      <p:pic>
        <p:nvPicPr>
          <p:cNvPr id="9" name="Image 1" descr="/home/claude/poster_v2/figures/shap_waterfall_true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103120"/>
            <a:ext cx="4263702" cy="384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5971032"/>
            <a:ext cx="4263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9  ·  TRUE NEGATIVE (CONTROL, CONFIDENCE = 0.99)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that the model fires on the right features for the right reasons: low information_unit_coverage and impaired pitch range for the dementia case; preserved syntactic complexity and low fragment_rate for the control case. This is what audit-readiness looks like.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3" name="Text 9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INTERPRETABILITY (3/3)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model fails and why that’s diagnostic too.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116 test samples, 9 were misclassified (6 false positives and 3 false negatives). The 3 false-negative cases (dementia called control) are the clinically costly ones. Below: the SHAP waterfall for the most-confident FN, plus what we learn from inspecting all of them.</a:t>
            </a:r>
            <a:endParaRPr lang="en-US" sz="1200" dirty="0"/>
          </a:p>
        </p:txBody>
      </p:sp>
      <p:pic>
        <p:nvPicPr>
          <p:cNvPr id="7" name="Image 0" descr="/home/claude/poster_v2/figures/shap_waterfall_false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4688174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245352"/>
            <a:ext cx="46881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8  ·  FALSE NEGATIVE  ·  DEMENTIA CALLED CONTROL  ·  CONFIDENCE = 0.28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4944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went wrong here.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49440" y="25146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patient has clinically diagnosed dementia but their cookie-task transcript shows preserved syntactic complexity, low fragment rate, and high information-unit coverage — the linguistic profile of a control. SHAP shows the model is attending to the right features; they just disagreed with the clinical label here.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49440" y="4023360"/>
            <a:ext cx="4663440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2" name="Text 9"/>
          <p:cNvSpPr/>
          <p:nvPr/>
        </p:nvSpPr>
        <p:spPr>
          <a:xfrm>
            <a:off x="6949440" y="4160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7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across all 3 false negatives.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49440" y="4572000"/>
            <a:ext cx="164592" cy="164592"/>
          </a:xfrm>
          <a:prstGeom prst="ellipse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4" name="Text 11"/>
          <p:cNvSpPr/>
          <p:nvPr/>
        </p:nvSpPr>
        <p:spPr>
          <a:xfrm>
            <a:off x="722376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had clinical AD diagnosis but mild stage, likely early MCI, not advanced.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949440" y="4983480"/>
            <a:ext cx="164592" cy="164592"/>
          </a:xfrm>
          <a:prstGeom prst="ellipse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6" name="Text 13"/>
          <p:cNvSpPr/>
          <p:nvPr/>
        </p:nvSpPr>
        <p:spPr>
          <a:xfrm>
            <a:off x="722376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Information-unit coverage was high (&gt; 0.65) — the dominant feature pointed wrong.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949440" y="5394960"/>
            <a:ext cx="164592" cy="164592"/>
          </a:xfrm>
          <a:prstGeom prst="ellipse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8" name="Text 15"/>
          <p:cNvSpPr/>
          <p:nvPr/>
        </p:nvSpPr>
        <p:spPr>
          <a:xfrm>
            <a:off x="722376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Disfluency rates were below median, patients spoke fluently despite cognitive decline.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49440" y="5806440"/>
            <a:ext cx="164592" cy="164592"/>
          </a:xfrm>
          <a:prstGeom prst="ellipse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0" name="Text 17"/>
          <p:cNvSpPr/>
          <p:nvPr/>
        </p:nvSpPr>
        <p:spPr>
          <a:xfrm>
            <a:off x="7223760" y="5760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second-stage screen using longitudinal speech samples would catch these.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2" name="Text 19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 err="1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NeuroLinguist</a:t>
            </a: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the model in production.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clinician-facing web application that wraps the entire pipeline. Paste a transcript or upload a CHA file; the system extracts 32 features in seconds, routes by detected task type, and returns a calibrated dementia probability with full SHAP attribution.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0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input modes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raw transcript or upload a .CHA file directly. Client-side parser strips CHAT codes, preserves filled pauses, and extracts *PAR lines automatically.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3" name="Shape 11"/>
          <p:cNvSpPr/>
          <p:nvPr/>
        </p:nvSpPr>
        <p:spPr>
          <a:xfrm>
            <a:off x="4370832" y="2194560"/>
            <a:ext cx="3657600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4" name="Text 12"/>
          <p:cNvSpPr/>
          <p:nvPr/>
        </p:nvSpPr>
        <p:spPr>
          <a:xfrm>
            <a:off x="4645152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5152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Guided task detection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45152" y="3291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classifies input as cookie / fluency / recall / sentence and routes to the correct specialist </a:t>
            </a:r>
            <a:r>
              <a:rPr lang="en-US" sz="110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3024" y="219456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8" name="Shape 16"/>
          <p:cNvSpPr/>
          <p:nvPr/>
        </p:nvSpPr>
        <p:spPr>
          <a:xfrm>
            <a:off x="8193024" y="2194560"/>
            <a:ext cx="3657600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9" name="Text 17"/>
          <p:cNvSpPr/>
          <p:nvPr/>
        </p:nvSpPr>
        <p:spPr>
          <a:xfrm>
            <a:off x="8467344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47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67344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per prediction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67344" y="3291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page shows the full feature breakdown, which features pushed which way, by how much. Designed for clinical audit, not just demo.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94415" cy="155448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1094415" cy="45720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4" name="Text 22"/>
          <p:cNvSpPr/>
          <p:nvPr/>
        </p:nvSpPr>
        <p:spPr>
          <a:xfrm>
            <a:off x="777240" y="49377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MODERN ENGINEERING TOOLS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349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· Python 3.12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5349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20440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spaCy · Parselmouth · SBERT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5349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/ OPTIMISATION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63640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· scikit-learn · Optuna · SHAP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06840" y="5349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 TIME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006840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 second per sample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4" name="Text 32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1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CONCLUSIONS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10728655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findings, innovation, and clinical impact.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Hand-crafted features outperform BERT on small clinical data.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8928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~880 training samples, our 32-feature ensemble beats BERT fine-tune by 7.7 pp. Transformers are not always the answer.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594360" cy="594360"/>
          </a:xfrm>
          <a:prstGeom prst="ellipse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1" name="Text 9"/>
          <p:cNvSpPr/>
          <p:nvPr/>
        </p:nvSpPr>
        <p:spPr>
          <a:xfrm>
            <a:off x="548640" y="2350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3957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routing is essential, not optional.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7340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single feature (information_unit_coverage, d=2.05) is meaningful on only one task. Without routing, its signal is wasted on 60% of samples.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594360" cy="594360"/>
          </a:xfrm>
          <a:prstGeom prst="ellipse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5" name="Text 13"/>
          <p:cNvSpPr/>
          <p:nvPr/>
        </p:nvSpPr>
        <p:spPr>
          <a:xfrm>
            <a:off x="548640" y="31912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2369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Beats published SoTA on the same corpus.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5753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vs. Sarawgi et al. 2020’s 88.0% on full Pitt, same split protocol, same imbalance, fairer comparison.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32504"/>
            <a:ext cx="594360" cy="594360"/>
          </a:xfrm>
          <a:prstGeom prst="ellipse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19" name="Text 17"/>
          <p:cNvSpPr/>
          <p:nvPr/>
        </p:nvSpPr>
        <p:spPr>
          <a:xfrm>
            <a:off x="548640" y="40325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407822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Deployable, interpretable, audit-ready.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44165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runs in under a second. SHAP traces every prediction back to specific speech behaviours a clinician can inspect.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94415" cy="1371600"/>
          </a:xfrm>
          <a:prstGeom prst="rect">
            <a:avLst/>
          </a:prstGeom>
          <a:solidFill>
            <a:srgbClr val="7A1C2C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4415" cy="45720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24" name="Text 22"/>
          <p:cNvSpPr/>
          <p:nvPr/>
        </p:nvSpPr>
        <p:spPr>
          <a:xfrm>
            <a:off x="777240" y="5166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INNOVATION &amp; COMMERCIAL PATH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440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system to combine task-routing across all 4 cognitive tasks with full per-prediction SHAP transparency.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path: pharma clinical-trial enrolment screening (digital cognitive biomarker, FDA-recognised category as of 2024). B2C path: patient self-screening companion app. Pitch document drafted under the working name CogniSpeech.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8C9A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8" name="Text 26"/>
          <p:cNvSpPr/>
          <p:nvPr/>
        </p:nvSpPr>
        <p:spPr>
          <a:xfrm>
            <a:off x="5486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2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NeuroLinguist  ·  AUB EECE 502  ·  Spring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71055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7A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914400" cy="36576"/>
          </a:xfrm>
          <a:prstGeom prst="rect">
            <a:avLst/>
          </a:prstGeom>
          <a:solidFill>
            <a:srgbClr val="C47B16"/>
          </a:solidFill>
          <a:ln/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 REFERENCES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Becker, J. T. et al. (1994). The natural history of Alzheimer’s disease: description of study cohort and accuracy of diagnosis. Archives of Neurology.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30815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Fraser, K. C., Meltzer, J. A., Rudzicz, F. (2016). Linguistic features identify Alzheimer’s disease in narrative speech. Journal of Alzheimer’s Disease, 49(2), 407–422.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374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Sarawgi, U., Zulfikar, W., Soliman, N., Maes, P. (2020). Multimodal inductive transfer learning for detection of Alzheimer’s dementia. INTERSPEECH (ADReSS Challenge).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6667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Yang, X. et al. (2022). A deep learning approach for Alzheimer’s detection from connected speech. IEEE Speech Processing.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9593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Ksibi, A. et al. (2025). Multimodal Siamese networks for dementia detection. Scientific Reports.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Eyigoz, E. et al. (2020). Linguistic markers predict onset of Alzheimer’s disease. EClinicalMedicine, The Lancet.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4544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Liu, X. et al. (2024). ASR robustness in clinical speech analysis. Elsevier Journal of Biomedical Informatics.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483717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Lundberg, S. M., Lee, S. I. (2017). A unified approach to interpreting model predictions (SHAP). NeurIPS.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51297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Akiba, T. et al. (2019). Optuna: a next-generation hyperparameter optimisation framework. KDD.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5422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DementiaBank · Pitt Corpus · TalkBank.org · CC-licensed under the TalkBank usage terms.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5897880"/>
            <a:ext cx="10698480" cy="0"/>
          </a:xfrm>
          <a:prstGeom prst="line">
            <a:avLst/>
          </a:prstGeom>
          <a:noFill/>
          <a:ln w="9525">
            <a:solidFill>
              <a:srgbClr val="C47B1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7" name="Text 15"/>
          <p:cNvSpPr/>
          <p:nvPr/>
        </p:nvSpPr>
        <p:spPr>
          <a:xfrm>
            <a:off x="731520" y="6035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Wassim Kassem  ·  Ali El Hajj  ·  Tamer Lammam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6309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Advisor: Dr. Karim Kabalan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E0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auditory window into the aging mind.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E09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AMERICAN UNIVERSITY OF BEIRUT  ·  EECE 502  ·  SPRING 2026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4559</Words>
  <Application>Microsoft Office PowerPoint</Application>
  <PresentationFormat>Widescreen</PresentationFormat>
  <Paragraphs>651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NeuroLinguist — AI-Based Alzheimer Detection from Speech</dc:title>
  <dc:subject>PptxGenJS Presentation</dc:subject>
  <dc:creator>Wassim Kassem · Ali El Hajj · Tamer Lammam</dc:creator>
  <cp:lastModifiedBy>Wassim Kassem (Student)</cp:lastModifiedBy>
  <cp:revision>5</cp:revision>
  <dcterms:created xsi:type="dcterms:W3CDTF">2026-04-29T21:52:55Z</dcterms:created>
  <dcterms:modified xsi:type="dcterms:W3CDTF">2026-05-04T20:07:57Z</dcterms:modified>
</cp:coreProperties>
</file>